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9659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CIVIC REPORTING, MADE INSTANT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77240" y="2331720"/>
            <a:ext cx="9601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CivicLens AI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822960" y="3611880"/>
            <a:ext cx="7589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i="1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 a photo, add a note, and the right department finds out —</a:t>
            </a:r>
            <a:endParaRPr lang="en-US" sz="17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700" i="1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an AI-written summary attached, and a person reviewing before it goes public.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 rot="-480000">
            <a:off x="8869680" y="5120640"/>
            <a:ext cx="187452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E8A3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 rot="-480000">
            <a:off x="8869680" y="5120640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PENDING REVIEW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 rot="300000">
            <a:off x="10195560" y="5806440"/>
            <a:ext cx="187452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2F7D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 rot="300000">
            <a:off x="10195560" y="5806440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2F7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61264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3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 Overview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0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Reporting a civic issue shouldn't feel like this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600200"/>
            <a:ext cx="640080" cy="640080"/>
          </a:xfrm>
          <a:prstGeom prst="ellipse">
            <a:avLst/>
          </a:prstGeom>
          <a:solidFill>
            <a:srgbClr val="F2F4F8"/>
          </a:solidFill>
          <a:ln w="19050">
            <a:solidFill>
              <a:srgbClr val="C143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6002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143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508760" y="1563624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Reports go nowhere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508760" y="1929384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call to the ward office, then silence — no ticket number, no way to check back.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" y="3017520"/>
            <a:ext cx="640080" cy="640080"/>
          </a:xfrm>
          <a:prstGeom prst="ellipse">
            <a:avLst/>
          </a:prstGeom>
          <a:solidFill>
            <a:srgbClr val="F2F4F8"/>
          </a:solidFill>
          <a:ln w="19050">
            <a:solidFill>
              <a:srgbClr val="2C5FA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30175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C5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2×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508760" y="2980944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fix, reported five times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508760" y="3346704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neighbors, five phone calls, one pothole — and no way to know it's already logged.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" y="4434840"/>
            <a:ext cx="640080" cy="640080"/>
          </a:xfrm>
          <a:prstGeom prst="ellipse">
            <a:avLst/>
          </a:prstGeom>
          <a:solidFill>
            <a:srgbClr val="F2F4F8"/>
          </a:solidFill>
          <a:ln w="19050">
            <a:solidFill>
              <a:srgbClr val="6B728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44348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508760" y="4398264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visibility into what happens next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508760" y="4764024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it's reported, it disappears into a queue nobody outside the office can see.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7178040" y="1554480"/>
            <a:ext cx="4434840" cy="4572000"/>
          </a:xfrm>
          <a:prstGeom prst="roundRect">
            <a:avLst>
              <a:gd name="adj" fmla="val 1237"/>
            </a:avLst>
          </a:prstGeom>
          <a:solidFill>
            <a:srgbClr val="F2F4F8"/>
          </a:solidFill>
          <a:ln w="12700">
            <a:solidFill>
              <a:srgbClr val="DFE3E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543800" y="18288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OLD WAY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543800" y="2331720"/>
            <a:ext cx="365760" cy="3657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B728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543800" y="23317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092440" y="2350008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the helpline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7726680" y="2715768"/>
            <a:ext cx="0" cy="457200"/>
          </a:xfrm>
          <a:prstGeom prst="line">
            <a:avLst/>
          </a:prstGeom>
          <a:noFill/>
          <a:ln w="12700">
            <a:solidFill>
              <a:srgbClr val="6B7280"/>
            </a:solidFill>
            <a:prstDash val="dash"/>
          </a:ln>
        </p:spPr>
      </p:sp>
      <p:sp>
        <p:nvSpPr>
          <p:cNvPr id="21" name="Shape 19"/>
          <p:cNvSpPr/>
          <p:nvPr/>
        </p:nvSpPr>
        <p:spPr>
          <a:xfrm>
            <a:off x="7543800" y="3172968"/>
            <a:ext cx="365760" cy="3657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B728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543800" y="317296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092440" y="3191256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put on hold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7726680" y="3557016"/>
            <a:ext cx="0" cy="457200"/>
          </a:xfrm>
          <a:prstGeom prst="line">
            <a:avLst/>
          </a:prstGeom>
          <a:noFill/>
          <a:ln w="12700">
            <a:solidFill>
              <a:srgbClr val="6B7280"/>
            </a:solidFill>
            <a:prstDash val="dash"/>
          </a:ln>
        </p:spPr>
      </p:sp>
      <p:sp>
        <p:nvSpPr>
          <p:cNvPr id="25" name="Shape 23"/>
          <p:cNvSpPr/>
          <p:nvPr/>
        </p:nvSpPr>
        <p:spPr>
          <a:xfrm>
            <a:off x="7543800" y="4014216"/>
            <a:ext cx="365760" cy="3657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B728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43800" y="401421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092440" y="4032504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Maybe it's logged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7726680" y="4398264"/>
            <a:ext cx="0" cy="457200"/>
          </a:xfrm>
          <a:prstGeom prst="line">
            <a:avLst/>
          </a:prstGeom>
          <a:noFill/>
          <a:ln w="12700">
            <a:solidFill>
              <a:srgbClr val="6B7280"/>
            </a:solidFill>
            <a:prstDash val="dash"/>
          </a:ln>
        </p:spPr>
      </p:sp>
      <p:sp>
        <p:nvSpPr>
          <p:cNvPr id="29" name="Shape 27"/>
          <p:cNvSpPr/>
          <p:nvPr/>
        </p:nvSpPr>
        <p:spPr>
          <a:xfrm>
            <a:off x="7543800" y="4855464"/>
            <a:ext cx="365760" cy="3657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B728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543800" y="485546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092440" y="4873752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follow-up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0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steps, start to finish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2011680"/>
            <a:ext cx="2514600" cy="3291840"/>
          </a:xfrm>
          <a:prstGeom prst="roundRect">
            <a:avLst>
              <a:gd name="adj" fmla="val 2909"/>
            </a:avLst>
          </a:prstGeom>
          <a:solidFill>
            <a:srgbClr val="F2F4F8"/>
          </a:solidFill>
          <a:ln w="12700">
            <a:solidFill>
              <a:srgbClr val="DFE3E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485900" y="1691640"/>
            <a:ext cx="640080" cy="640080"/>
          </a:xfrm>
          <a:prstGeom prst="ellipse">
            <a:avLst/>
          </a:prstGeom>
          <a:solidFill>
            <a:srgbClr val="2C5FA8"/>
          </a:solidFill>
          <a:ln/>
        </p:spPr>
      </p:sp>
      <p:sp>
        <p:nvSpPr>
          <p:cNvPr id="5" name="Text 3"/>
          <p:cNvSpPr/>
          <p:nvPr/>
        </p:nvSpPr>
        <p:spPr>
          <a:xfrm>
            <a:off x="1485900" y="16916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77240" y="2468880"/>
            <a:ext cx="2057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77240" y="2971800"/>
            <a:ext cx="20574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Photo, category, a short description — under a minute on a phone.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090672" y="3474720"/>
            <a:ext cx="265176" cy="0"/>
          </a:xfrm>
          <a:prstGeom prst="line">
            <a:avLst/>
          </a:prstGeom>
          <a:noFill/>
          <a:ln w="25400">
            <a:solidFill>
              <a:srgbClr val="2C5FA8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3383280" y="2011680"/>
            <a:ext cx="2514600" cy="3291840"/>
          </a:xfrm>
          <a:prstGeom prst="roundRect">
            <a:avLst>
              <a:gd name="adj" fmla="val 2909"/>
            </a:avLst>
          </a:prstGeom>
          <a:solidFill>
            <a:srgbClr val="F2F4F8"/>
          </a:solidFill>
          <a:ln w="12700">
            <a:solidFill>
              <a:srgbClr val="DFE3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20540" y="1691640"/>
            <a:ext cx="640080" cy="640080"/>
          </a:xfrm>
          <a:prstGeom prst="ellipse">
            <a:avLst/>
          </a:prstGeom>
          <a:solidFill>
            <a:srgbClr val="2C5FA8"/>
          </a:solidFill>
          <a:ln/>
        </p:spPr>
      </p:sp>
      <p:sp>
        <p:nvSpPr>
          <p:cNvPr id="11" name="Text 9"/>
          <p:cNvSpPr/>
          <p:nvPr/>
        </p:nvSpPr>
        <p:spPr>
          <a:xfrm>
            <a:off x="4320540" y="16916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611880" y="2468880"/>
            <a:ext cx="2057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assists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611880" y="2971800"/>
            <a:ext cx="20574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multimodal model drafts a summary and a suggested fix from the photo and text.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925312" y="3474720"/>
            <a:ext cx="265176" cy="0"/>
          </a:xfrm>
          <a:prstGeom prst="line">
            <a:avLst/>
          </a:prstGeom>
          <a:noFill/>
          <a:ln w="25400">
            <a:solidFill>
              <a:srgbClr val="2C5FA8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6217920" y="2011680"/>
            <a:ext cx="2514600" cy="3291840"/>
          </a:xfrm>
          <a:prstGeom prst="roundRect">
            <a:avLst>
              <a:gd name="adj" fmla="val 2909"/>
            </a:avLst>
          </a:prstGeom>
          <a:solidFill>
            <a:srgbClr val="F2F4F8"/>
          </a:solidFill>
          <a:ln w="12700">
            <a:solidFill>
              <a:srgbClr val="DFE3E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155180" y="1691640"/>
            <a:ext cx="640080" cy="640080"/>
          </a:xfrm>
          <a:prstGeom prst="ellipse">
            <a:avLst/>
          </a:prstGeom>
          <a:solidFill>
            <a:srgbClr val="2C5FA8"/>
          </a:solidFill>
          <a:ln/>
        </p:spPr>
      </p:sp>
      <p:sp>
        <p:nvSpPr>
          <p:cNvPr id="17" name="Text 15"/>
          <p:cNvSpPr/>
          <p:nvPr/>
        </p:nvSpPr>
        <p:spPr>
          <a:xfrm>
            <a:off x="7155180" y="16916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446520" y="2468880"/>
            <a:ext cx="2057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Checked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446520" y="2971800"/>
            <a:ext cx="20574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detection and an image-authenticity check run automatically.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8759952" y="3474720"/>
            <a:ext cx="265176" cy="0"/>
          </a:xfrm>
          <a:prstGeom prst="line">
            <a:avLst/>
          </a:prstGeom>
          <a:noFill/>
          <a:ln w="25400">
            <a:solidFill>
              <a:srgbClr val="2C5FA8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9052560" y="2011680"/>
            <a:ext cx="2514600" cy="3291840"/>
          </a:xfrm>
          <a:prstGeom prst="roundRect">
            <a:avLst>
              <a:gd name="adj" fmla="val 2909"/>
            </a:avLst>
          </a:prstGeom>
          <a:solidFill>
            <a:srgbClr val="F2F4F8"/>
          </a:solidFill>
          <a:ln w="12700">
            <a:solidFill>
              <a:srgbClr val="DFE3E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989820" y="1691640"/>
            <a:ext cx="640080" cy="640080"/>
          </a:xfrm>
          <a:prstGeom prst="ellipse">
            <a:avLst/>
          </a:prstGeom>
          <a:solidFill>
            <a:srgbClr val="2F7D5C"/>
          </a:solidFill>
          <a:ln/>
        </p:spPr>
      </p:sp>
      <p:sp>
        <p:nvSpPr>
          <p:cNvPr id="23" name="Text 21"/>
          <p:cNvSpPr/>
          <p:nvPr/>
        </p:nvSpPr>
        <p:spPr>
          <a:xfrm>
            <a:off x="9989820" y="16916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9281160" y="2468880"/>
            <a:ext cx="2057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Reviewed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9281160" y="2971800"/>
            <a:ext cx="20574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human approves, rejects, or merges it — then it's public and trackable.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0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does the busy work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737360"/>
            <a:ext cx="128016" cy="12801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609344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0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Plain-language summary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914400" y="1993392"/>
            <a:ext cx="5120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100–150 words, generated from the photo and the citizen's own note — no jargon for the reviewing department to decode.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40080" y="3017520"/>
            <a:ext cx="128016" cy="12801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889504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0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suggested fix, drafted automatically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914400" y="3273552"/>
            <a:ext cx="5120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“fill with asphalt and improve drainage” — a starting point, not the final word.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" y="4297680"/>
            <a:ext cx="128016" cy="12801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4169664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0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Authenticity check on every photo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914400" y="4553712"/>
            <a:ext cx="5120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AI-generated or heavily edited images before a report is trusted as evidence.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949440" y="1600200"/>
            <a:ext cx="4663440" cy="4617720"/>
          </a:xfrm>
          <a:prstGeom prst="roundRect">
            <a:avLst>
              <a:gd name="adj" fmla="val 1584"/>
            </a:avLst>
          </a:prstGeom>
          <a:solidFill>
            <a:srgbClr val="FFFFFF"/>
          </a:solidFill>
          <a:ln w="19050">
            <a:solidFill>
              <a:srgbClr val="2C5FA8"/>
            </a:solidFill>
            <a:prstDash val="solid"/>
          </a:ln>
          <a:effectLst>
            <a:outerShdw sx="100000" sy="100000" kx="0" ky="0" algn="bl" rotWithShape="0" blurRad="101600" dist="38100" dir="5400000">
              <a:srgbClr val="9FB3D1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269480" y="1920240"/>
            <a:ext cx="4023360" cy="1554480"/>
          </a:xfrm>
          <a:prstGeom prst="roundRect">
            <a:avLst>
              <a:gd name="adj" fmla="val 2941"/>
            </a:avLst>
          </a:prstGeom>
          <a:solidFill>
            <a:srgbClr val="F2F4F8"/>
          </a:solidFill>
          <a:ln/>
        </p:spPr>
      </p:sp>
      <p:sp>
        <p:nvSpPr>
          <p:cNvPr id="14" name="Text 12"/>
          <p:cNvSpPr/>
          <p:nvPr/>
        </p:nvSpPr>
        <p:spPr>
          <a:xfrm>
            <a:off x="7269480" y="1920240"/>
            <a:ext cx="40233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report photo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269480" y="3657600"/>
            <a:ext cx="292608" cy="292608"/>
          </a:xfrm>
          <a:prstGeom prst="ellipse">
            <a:avLst/>
          </a:prstGeom>
          <a:solidFill>
            <a:srgbClr val="2C5FA8"/>
          </a:solidFill>
          <a:ln/>
        </p:spPr>
      </p:sp>
      <p:sp>
        <p:nvSpPr>
          <p:cNvPr id="16" name="Text 14"/>
          <p:cNvSpPr/>
          <p:nvPr/>
        </p:nvSpPr>
        <p:spPr>
          <a:xfrm>
            <a:off x="7269480" y="365760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662672" y="368503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2C5F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 ASSISTANT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269480" y="411480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2C5F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SUMMARY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7269480" y="4416552"/>
            <a:ext cx="4023360" cy="91440"/>
          </a:xfrm>
          <a:prstGeom prst="rect">
            <a:avLst/>
          </a:prstGeom>
          <a:solidFill>
            <a:srgbClr val="F2F4F8"/>
          </a:solidFill>
          <a:ln/>
        </p:spPr>
      </p:sp>
      <p:sp>
        <p:nvSpPr>
          <p:cNvPr id="20" name="Shape 18"/>
          <p:cNvSpPr/>
          <p:nvPr/>
        </p:nvSpPr>
        <p:spPr>
          <a:xfrm>
            <a:off x="7269480" y="4599432"/>
            <a:ext cx="3474720" cy="91440"/>
          </a:xfrm>
          <a:prstGeom prst="rect">
            <a:avLst/>
          </a:prstGeom>
          <a:solidFill>
            <a:srgbClr val="F2F4F8"/>
          </a:solidFill>
          <a:ln/>
        </p:spPr>
      </p:sp>
      <p:sp>
        <p:nvSpPr>
          <p:cNvPr id="21" name="Text 19"/>
          <p:cNvSpPr/>
          <p:nvPr/>
        </p:nvSpPr>
        <p:spPr>
          <a:xfrm>
            <a:off x="7269480" y="493776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2C5F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SUGGESTED FIX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7269480" y="5239512"/>
            <a:ext cx="3749040" cy="91440"/>
          </a:xfrm>
          <a:prstGeom prst="rect">
            <a:avLst/>
          </a:prstGeom>
          <a:solidFill>
            <a:srgbClr val="F2F4F8"/>
          </a:solidFill>
          <a:ln/>
        </p:spPr>
      </p:sp>
      <p:sp>
        <p:nvSpPr>
          <p:cNvPr id="23" name="Shape 21"/>
          <p:cNvSpPr/>
          <p:nvPr/>
        </p:nvSpPr>
        <p:spPr>
          <a:xfrm>
            <a:off x="7269480" y="5577840"/>
            <a:ext cx="187452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E8A33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269480" y="5577840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PENDING REVIEW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0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pothole, one ticket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three-layer filter runs automatically on every new report.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3383280" cy="2834640"/>
          </a:xfrm>
          <a:prstGeom prst="roundRect">
            <a:avLst>
              <a:gd name="adj" fmla="val 2581"/>
            </a:avLst>
          </a:prstGeom>
          <a:solidFill>
            <a:srgbClr val="F2F4F8"/>
          </a:solidFill>
          <a:ln w="12700">
            <a:solidFill>
              <a:srgbClr val="DFE3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240280"/>
            <a:ext cx="594360" cy="594360"/>
          </a:xfrm>
          <a:prstGeom prst="ellipse">
            <a:avLst/>
          </a:prstGeom>
          <a:solidFill>
            <a:srgbClr val="2C5FA8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2402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301752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Spatial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3474720"/>
            <a:ext cx="2834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100m radius for point issues, 500m for linear ones like water leaks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251960" y="1965960"/>
            <a:ext cx="3383280" cy="2834640"/>
          </a:xfrm>
          <a:prstGeom prst="roundRect">
            <a:avLst>
              <a:gd name="adj" fmla="val 2581"/>
            </a:avLst>
          </a:prstGeom>
          <a:solidFill>
            <a:srgbClr val="F2F4F8"/>
          </a:solidFill>
          <a:ln w="12700">
            <a:solidFill>
              <a:srgbClr val="DFE3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26280" y="2240280"/>
            <a:ext cx="594360" cy="59436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1" name="Text 9"/>
          <p:cNvSpPr/>
          <p:nvPr/>
        </p:nvSpPr>
        <p:spPr>
          <a:xfrm>
            <a:off x="4526280" y="22402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526280" y="301752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Temporal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526280" y="3474720"/>
            <a:ext cx="2834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Ignores reports resolved more than 60 days ago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955280" y="1965960"/>
            <a:ext cx="3383280" cy="2834640"/>
          </a:xfrm>
          <a:prstGeom prst="roundRect">
            <a:avLst>
              <a:gd name="adj" fmla="val 2581"/>
            </a:avLst>
          </a:prstGeom>
          <a:solidFill>
            <a:srgbClr val="F2F4F8"/>
          </a:solidFill>
          <a:ln w="12700">
            <a:solidFill>
              <a:srgbClr val="DFE3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0" y="2240280"/>
            <a:ext cx="594360" cy="594360"/>
          </a:xfrm>
          <a:prstGeom prst="ellipse">
            <a:avLst/>
          </a:prstGeom>
          <a:solidFill>
            <a:srgbClr val="2F7D5C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0" y="22402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229600" y="301752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Semantic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229600" y="3474720"/>
            <a:ext cx="2834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match plus keyword overlap — flagged above 0.7 similarity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5120640"/>
            <a:ext cx="10789920" cy="777240"/>
          </a:xfrm>
          <a:prstGeom prst="roundRect">
            <a:avLst>
              <a:gd name="adj" fmla="val 7059"/>
            </a:avLst>
          </a:prstGeom>
          <a:solidFill>
            <a:srgbClr val="10233F"/>
          </a:solidFill>
          <a:ln/>
        </p:spPr>
      </p:sp>
      <p:sp>
        <p:nvSpPr>
          <p:cNvPr id="20" name="Text 18"/>
          <p:cNvSpPr/>
          <p:nvPr/>
        </p:nvSpPr>
        <p:spPr>
          <a:xfrm>
            <a:off x="914400" y="5120640"/>
            <a:ext cx="10058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match on all three never auto-merges — it's routed to an admin, who confirms, dismisses, or marks the reports as related.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0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human always signs off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691640"/>
            <a:ext cx="5120640" cy="4206240"/>
          </a:xfrm>
          <a:prstGeom prst="roundRect">
            <a:avLst>
              <a:gd name="adj" fmla="val 1739"/>
            </a:avLst>
          </a:prstGeom>
          <a:solidFill>
            <a:srgbClr val="F2F4F8"/>
          </a:solidFill>
          <a:ln w="12700">
            <a:solidFill>
              <a:srgbClr val="DFE3E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920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REVIEW QUEUE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822960" y="2377440"/>
            <a:ext cx="457200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4E8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1560" y="25146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Streetlight outage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051560" y="28803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Reported 2 hours ago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57600" y="2633472"/>
            <a:ext cx="173736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E8A3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0" y="2633472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PENDING REVIEW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822960" y="3566160"/>
            <a:ext cx="457200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4E8E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51560" y="37033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Pothole, Jaydev Vihar Rd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1051560" y="40690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Reported 2 hours ago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0" y="3822192"/>
            <a:ext cx="173736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2F7D5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0" y="3822192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2F7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APPROVED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822960" y="4754880"/>
            <a:ext cx="457200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4E8E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48920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Blocked drainage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1051560" y="52578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Reported 2 hours ago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0" y="5010912"/>
            <a:ext cx="173736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2C5FA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0" y="5010912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2C5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POSSIBLE DUPLICATE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989320" y="1737360"/>
            <a:ext cx="5577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0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Nothing publishes on its own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5989320" y="2121408"/>
            <a:ext cx="5577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report sits in a queue until an admin approves it — spam and bad-faith reports never reach the public map.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5989320" y="3108960"/>
            <a:ext cx="5577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0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decision is logged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5989320" y="3493008"/>
            <a:ext cx="5577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Approvals, rejections, and duplicate merges are all recorded for accountability.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989320" y="4480560"/>
            <a:ext cx="5577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0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News from vetted sources only</a:t>
            </a:r>
            <a:endParaRPr lang="en-US" sz="1550" dirty="0"/>
          </a:p>
        </p:txBody>
      </p:sp>
      <p:sp>
        <p:nvSpPr>
          <p:cNvPr id="25" name="Text 23"/>
          <p:cNvSpPr/>
          <p:nvPr/>
        </p:nvSpPr>
        <p:spPr>
          <a:xfrm>
            <a:off x="5989320" y="4864608"/>
            <a:ext cx="5577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headlines are pulled from a trusted-domain allowlist, each card labeled by publisher.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0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 the hood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2286000"/>
            <a:ext cx="3017520" cy="1554480"/>
          </a:xfrm>
          <a:prstGeom prst="roundRect">
            <a:avLst>
              <a:gd name="adj" fmla="val 4706"/>
            </a:avLst>
          </a:prstGeom>
          <a:solidFill>
            <a:srgbClr val="2C5FA8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2542032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297180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— public site + admin dashboard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480560" y="2286000"/>
            <a:ext cx="3017520" cy="1554480"/>
          </a:xfrm>
          <a:prstGeom prst="roundRect">
            <a:avLst>
              <a:gd name="adj" fmla="val 4706"/>
            </a:avLst>
          </a:prstGeom>
          <a:solidFill>
            <a:srgbClr val="10233F"/>
          </a:solidFill>
          <a:ln/>
        </p:spPr>
      </p:sp>
      <p:sp>
        <p:nvSpPr>
          <p:cNvPr id="7" name="Text 5"/>
          <p:cNvSpPr/>
          <p:nvPr/>
        </p:nvSpPr>
        <p:spPr>
          <a:xfrm>
            <a:off x="4709160" y="2542032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709160" y="297180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/ Express — API, duplicate detection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8321040" y="1005840"/>
            <a:ext cx="3017520" cy="1554480"/>
          </a:xfrm>
          <a:prstGeom prst="roundRect">
            <a:avLst>
              <a:gd name="adj" fmla="val 4706"/>
            </a:avLst>
          </a:prstGeom>
          <a:solidFill>
            <a:srgbClr val="E8A33D"/>
          </a:solidFill>
          <a:ln/>
        </p:spPr>
      </p:sp>
      <p:sp>
        <p:nvSpPr>
          <p:cNvPr id="10" name="Text 8"/>
          <p:cNvSpPr/>
          <p:nvPr/>
        </p:nvSpPr>
        <p:spPr>
          <a:xfrm>
            <a:off x="8549640" y="1261872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10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SERVICE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549640" y="169164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— vision summarization, checks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321040" y="3566160"/>
            <a:ext cx="3017520" cy="1554480"/>
          </a:xfrm>
          <a:prstGeom prst="roundRect">
            <a:avLst>
              <a:gd name="adj" fmla="val 4706"/>
            </a:avLst>
          </a:prstGeom>
          <a:solidFill>
            <a:srgbClr val="2F7D5C"/>
          </a:solidFill>
          <a:ln/>
        </p:spPr>
      </p:sp>
      <p:sp>
        <p:nvSpPr>
          <p:cNvPr id="13" name="Text 11"/>
          <p:cNvSpPr/>
          <p:nvPr/>
        </p:nvSpPr>
        <p:spPr>
          <a:xfrm>
            <a:off x="8549640" y="3822192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549640" y="425196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— single source of truth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657600" y="3063240"/>
            <a:ext cx="822960" cy="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headEnd type="triangl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7498080" y="2880360"/>
            <a:ext cx="822960" cy="-54864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7498080" y="3063240"/>
            <a:ext cx="822960" cy="82296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headEnd type="triangle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640080" y="5623560"/>
            <a:ext cx="10241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service ships its own Dockerfile; docker-compose.yml wires them together for local development.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0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with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2103120"/>
            <a:ext cx="2606040" cy="1600200"/>
          </a:xfrm>
          <a:prstGeom prst="roundRect">
            <a:avLst>
              <a:gd name="adj" fmla="val 4000"/>
            </a:avLst>
          </a:prstGeom>
          <a:solidFill>
            <a:srgbClr val="F2F4F8"/>
          </a:solidFill>
          <a:ln w="12700">
            <a:solidFill>
              <a:srgbClr val="DFE3E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2103120"/>
            <a:ext cx="54864" cy="1600200"/>
          </a:xfrm>
          <a:prstGeom prst="rect">
            <a:avLst/>
          </a:prstGeom>
          <a:solidFill>
            <a:srgbClr val="2C5FA8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233172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Next.js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2816352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Router frontend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383280" y="2103120"/>
            <a:ext cx="2606040" cy="1600200"/>
          </a:xfrm>
          <a:prstGeom prst="roundRect">
            <a:avLst>
              <a:gd name="adj" fmla="val 4000"/>
            </a:avLst>
          </a:prstGeom>
          <a:solidFill>
            <a:srgbClr val="F2F4F8"/>
          </a:solidFill>
          <a:ln w="12700">
            <a:solidFill>
              <a:srgbClr val="DFE3E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383280" y="2103120"/>
            <a:ext cx="54864" cy="1600200"/>
          </a:xfrm>
          <a:prstGeom prst="rect">
            <a:avLst/>
          </a:prstGeom>
          <a:solidFill>
            <a:srgbClr val="2C5FA8"/>
          </a:solidFill>
          <a:ln/>
        </p:spPr>
      </p:sp>
      <p:sp>
        <p:nvSpPr>
          <p:cNvPr id="9" name="Text 7"/>
          <p:cNvSpPr/>
          <p:nvPr/>
        </p:nvSpPr>
        <p:spPr>
          <a:xfrm>
            <a:off x="3611880" y="233172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Tailwind CSS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611880" y="2816352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system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17920" y="2103120"/>
            <a:ext cx="2606040" cy="1600200"/>
          </a:xfrm>
          <a:prstGeom prst="roundRect">
            <a:avLst>
              <a:gd name="adj" fmla="val 4000"/>
            </a:avLst>
          </a:prstGeom>
          <a:solidFill>
            <a:srgbClr val="F2F4F8"/>
          </a:solidFill>
          <a:ln w="12700">
            <a:solidFill>
              <a:srgbClr val="DFE3E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17920" y="2103120"/>
            <a:ext cx="54864" cy="1600200"/>
          </a:xfrm>
          <a:prstGeom prst="rect">
            <a:avLst/>
          </a:prstGeom>
          <a:solidFill>
            <a:srgbClr val="2C5FA8"/>
          </a:solidFill>
          <a:ln/>
        </p:spPr>
      </p:sp>
      <p:sp>
        <p:nvSpPr>
          <p:cNvPr id="13" name="Text 11"/>
          <p:cNvSpPr/>
          <p:nvPr/>
        </p:nvSpPr>
        <p:spPr>
          <a:xfrm>
            <a:off x="6446520" y="233172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 + Express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446520" y="2816352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9052560" y="2103120"/>
            <a:ext cx="2606040" cy="1600200"/>
          </a:xfrm>
          <a:prstGeom prst="roundRect">
            <a:avLst>
              <a:gd name="adj" fmla="val 4000"/>
            </a:avLst>
          </a:prstGeom>
          <a:solidFill>
            <a:srgbClr val="F2F4F8"/>
          </a:solidFill>
          <a:ln w="12700">
            <a:solidFill>
              <a:srgbClr val="DFE3E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052560" y="2103120"/>
            <a:ext cx="54864" cy="1600200"/>
          </a:xfrm>
          <a:prstGeom prst="rect">
            <a:avLst/>
          </a:prstGeom>
          <a:solidFill>
            <a:srgbClr val="2C5FA8"/>
          </a:solidFill>
          <a:ln/>
        </p:spPr>
      </p:sp>
      <p:sp>
        <p:nvSpPr>
          <p:cNvPr id="17" name="Text 15"/>
          <p:cNvSpPr/>
          <p:nvPr/>
        </p:nvSpPr>
        <p:spPr>
          <a:xfrm>
            <a:off x="9281160" y="233172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281160" y="2816352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datastore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4023360"/>
            <a:ext cx="2606040" cy="1600200"/>
          </a:xfrm>
          <a:prstGeom prst="roundRect">
            <a:avLst>
              <a:gd name="adj" fmla="val 4000"/>
            </a:avLst>
          </a:prstGeom>
          <a:solidFill>
            <a:srgbClr val="F2F4F8"/>
          </a:solidFill>
          <a:ln w="12700">
            <a:solidFill>
              <a:srgbClr val="DFE3E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4023360"/>
            <a:ext cx="54864" cy="160020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425196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77240" y="4736592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microservice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383280" y="4023360"/>
            <a:ext cx="2606040" cy="1600200"/>
          </a:xfrm>
          <a:prstGeom prst="roundRect">
            <a:avLst>
              <a:gd name="adj" fmla="val 4000"/>
            </a:avLst>
          </a:prstGeom>
          <a:solidFill>
            <a:srgbClr val="F2F4F8"/>
          </a:solidFill>
          <a:ln w="12700">
            <a:solidFill>
              <a:srgbClr val="DFE3E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383280" y="4023360"/>
            <a:ext cx="54864" cy="160020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25" name="Text 23"/>
          <p:cNvSpPr/>
          <p:nvPr/>
        </p:nvSpPr>
        <p:spPr>
          <a:xfrm>
            <a:off x="3611880" y="425196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OpenAI Vision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3611880" y="4736592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summaries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217920" y="4023360"/>
            <a:ext cx="2606040" cy="1600200"/>
          </a:xfrm>
          <a:prstGeom prst="roundRect">
            <a:avLst>
              <a:gd name="adj" fmla="val 4000"/>
            </a:avLst>
          </a:prstGeom>
          <a:solidFill>
            <a:srgbClr val="F2F4F8"/>
          </a:solidFill>
          <a:ln w="12700">
            <a:solidFill>
              <a:srgbClr val="DFE3E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217920" y="4023360"/>
            <a:ext cx="54864" cy="160020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29" name="Text 27"/>
          <p:cNvSpPr/>
          <p:nvPr/>
        </p:nvSpPr>
        <p:spPr>
          <a:xfrm>
            <a:off x="6446520" y="425196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6446520" y="4736592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Per-service containers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9052560" y="4023360"/>
            <a:ext cx="2606040" cy="1600200"/>
          </a:xfrm>
          <a:prstGeom prst="roundRect">
            <a:avLst>
              <a:gd name="adj" fmla="val 4000"/>
            </a:avLst>
          </a:prstGeom>
          <a:solidFill>
            <a:srgbClr val="F2F4F8"/>
          </a:solidFill>
          <a:ln w="12700">
            <a:solidFill>
              <a:srgbClr val="DFE3E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052560" y="4023360"/>
            <a:ext cx="54864" cy="160020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33" name="Text 31"/>
          <p:cNvSpPr/>
          <p:nvPr/>
        </p:nvSpPr>
        <p:spPr>
          <a:xfrm>
            <a:off x="9281160" y="425196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NewsAPI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9281160" y="4736592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Trusted local headlines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0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next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1005840" y="3749040"/>
            <a:ext cx="9966960" cy="0"/>
          </a:xfrm>
          <a:prstGeom prst="line">
            <a:avLst/>
          </a:prstGeom>
          <a:noFill/>
          <a:ln w="25400">
            <a:solidFill>
              <a:srgbClr val="DFE3E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313432" y="3547872"/>
            <a:ext cx="402336" cy="402336"/>
          </a:xfrm>
          <a:prstGeom prst="ellipse">
            <a:avLst/>
          </a:prstGeom>
          <a:solidFill>
            <a:srgbClr val="2C5FA8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8346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0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MVP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14400" y="4160520"/>
            <a:ext cx="3200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report → review → resolve flow, single city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062472" y="3547872"/>
            <a:ext cx="402336" cy="402336"/>
          </a:xfrm>
          <a:prstGeom prst="ellipse">
            <a:avLst/>
          </a:prstGeom>
          <a:solidFill>
            <a:srgbClr val="E8A33D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63440" y="28346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0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663440" y="4160520"/>
            <a:ext cx="3200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municipal partner, admin dashboard in daily use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9811512" y="3547872"/>
            <a:ext cx="402336" cy="402336"/>
          </a:xfrm>
          <a:prstGeom prst="ellipse">
            <a:avLst/>
          </a:prstGeom>
          <a:solidFill>
            <a:srgbClr val="2F7D5C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12480" y="28346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0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412480" y="4160520"/>
            <a:ext cx="3200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Multi-city rollout, public API for department dashboards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0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74320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Let's fix this, together.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822960" y="3703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3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civiclens-ai  ·  github.com/your-org/civiclens-ai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 rot="-360000">
            <a:off x="8778240" y="5212080"/>
            <a:ext cx="187452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2F7D5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 rot="-360000">
            <a:off x="8778240" y="5212080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2F7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3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2026-07-14T02:23:22Z</dcterms:created>
  <dcterms:modified xsi:type="dcterms:W3CDTF">2026-07-14T02:23:22Z</dcterms:modified>
</cp:coreProperties>
</file>